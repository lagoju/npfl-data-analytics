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0"/>
            <a:ext cx="12191695" cy="68580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534" y="1084889"/>
            <a:ext cx="11974625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sz="4400" dirty="0"/>
              <a:t>NPFL: Geography, Performance &amp; Competitiveness</a:t>
            </a:r>
          </a:p>
          <a:p>
            <a:pPr>
              <a:defRPr sz="2000">
                <a:solidFill>
                  <a:srgbClr val="DCF0E6"/>
                </a:solidFill>
              </a:defRPr>
            </a:pPr>
            <a:r>
              <a:rPr sz="3200" dirty="0"/>
              <a:t>Six-season data analytics portfolio | 2020/21–2025/26</a:t>
            </a:r>
          </a:p>
          <a:p>
            <a:pPr>
              <a:defRPr sz="1400">
                <a:solidFill>
                  <a:srgbClr val="DAA520"/>
                </a:solidFill>
              </a:defRPr>
            </a:pPr>
            <a:r>
              <a:rPr sz="1400" dirty="0"/>
              <a:t>From league structure and football culture to evidence-based improvement opportunities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A19E0-8D24-87BA-8864-F60669DA5E49}"/>
              </a:ext>
            </a:extLst>
          </p:cNvPr>
          <p:cNvSpPr txBox="1"/>
          <p:nvPr/>
        </p:nvSpPr>
        <p:spPr>
          <a:xfrm>
            <a:off x="9625933" y="5149863"/>
            <a:ext cx="2457226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endParaRPr lang="en-US" sz="2400" dirty="0"/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rPr lang="en-US" sz="1600" dirty="0"/>
              <a:t>Jonah Peter 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rPr lang="en-US" sz="1600" dirty="0"/>
              <a:t>Data Analyst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endParaRPr sz="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9096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9931" y="335554"/>
            <a:ext cx="1185266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sz="4000" dirty="0"/>
              <a:t>AN OVERVIEW OF NIGERIAN PROFESSIONAL FOOTBALL</a:t>
            </a:r>
            <a:endParaRPr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Organized national league football dates</a:t>
            </a:r>
            <a:r>
              <a:rPr lang="en-US" sz="2800" dirty="0"/>
              <a:t> back</a:t>
            </a:r>
            <a:r>
              <a:rPr sz="2800" dirty="0"/>
              <a:t> to 1972; the professional era began in 1990.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The NPFL is Nigeria’s highest domestic professional division.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The modern league normally operates with 20 clubs, 380 matches and 38 matchdays.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Nigeria has a deep football culture and a proven continental pedigree, including Enyimba’s two CAF Champions League titles.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The league has also faced long-running challenges around administration, infrastructure, broadcast reach and commercial development.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D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6"/>
                </a:solidFill>
              </a:defRPr>
            </a:pPr>
            <a:r>
              <a:rPr dirty="0"/>
              <a:t>Sources: NPFL official About; RSSSF Nigeria champions; NPFL Enyimba profile.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73455" y="452289"/>
            <a:ext cx="835651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sz="4000" dirty="0"/>
              <a:t>DATASET SCOPE &amp; ANALYTICAL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Coverage: 2020/21 through 2025/26 — six seasons.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2,095 matches, 4,368 goals and 32 clubs represented in the match dataset.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Analysis combines match, team, player, stadium, state, population and geopolitical-zone data.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2022/23 is abridged: 195 matches and 23 matches per team, so it should be interpreted separately when comparing season totals.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Player records contain duplicates; advanced player fields are less complete than core performance fields.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9892" y="297954"/>
            <a:ext cx="1183317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sz="4000" dirty="0"/>
              <a:t>POPULATION DOES NOT EXPLAIN CLUB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2926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006B3F"/>
                </a:solidFill>
              </a:defRPr>
            </a:pPr>
            <a:r>
              <a:t>r = 0.124</a:t>
            </a:r>
          </a:p>
          <a:p>
            <a:pPr algn="ctr">
              <a:defRPr sz="1100">
                <a:solidFill>
                  <a:srgbClr val="697076"/>
                </a:solidFill>
              </a:defRPr>
            </a:pPr>
            <a:r>
              <a:t>Population vs average PPG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463040"/>
            <a:ext cx="2926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1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ED1B24"/>
                </a:solidFill>
              </a:defRPr>
            </a:pPr>
            <a:r>
              <a:t>p = 0.555</a:t>
            </a:r>
          </a:p>
          <a:p>
            <a:pPr algn="ctr">
              <a:defRPr sz="1100">
                <a:solidFill>
                  <a:srgbClr val="697076"/>
                </a:solidFill>
              </a:defRPr>
            </a:pPr>
            <a:r>
              <a:t>Pearson significance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463040"/>
            <a:ext cx="2926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DAA520"/>
                </a:solidFill>
              </a:defRPr>
            </a:pPr>
            <a:r>
              <a:t>ρ = 0.055</a:t>
            </a:r>
          </a:p>
          <a:p>
            <a:pPr algn="ctr">
              <a:defRPr sz="1100">
                <a:solidFill>
                  <a:srgbClr val="697076"/>
                </a:solidFill>
              </a:defRPr>
            </a:pPr>
            <a:r>
              <a:t>Population vs total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106984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Neither population-performance relationship was statistically significant.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This suggests population size alone is not a strong explanation for club success in the six-season sample.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The implication is important: infrastructure, governance, recruitment, investment and sporting systems may matter more than simply having a large population 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4880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sz="2800" dirty="0"/>
              <a:t>GEOGRAPHY MATTERS — BUT NOT IN A SIMPLE NORTH–SOUTH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764" y="1417320"/>
            <a:ext cx="526379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South </a:t>
            </a:r>
            <a:r>
              <a:rPr sz="2800" dirty="0" err="1"/>
              <a:t>South</a:t>
            </a:r>
            <a:r>
              <a:rPr sz="2800" dirty="0"/>
              <a:t>: 1.45 average PPG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South West: 1.42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South East: 1.42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North Central: 1.36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North West: 1.36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North East: 1.11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79" y="1554480"/>
            <a:ext cx="54459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South </a:t>
            </a:r>
            <a:r>
              <a:rPr sz="2800" dirty="0" err="1"/>
              <a:t>South</a:t>
            </a:r>
            <a:r>
              <a:rPr sz="2800" dirty="0"/>
              <a:t> leads the zone-level average in the project data.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North East is the lowest-performing zone in the sample.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These are descriptive differences, not evidence that geography itself causes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263" y="313789"/>
            <a:ext cx="121027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sz="3600" dirty="0"/>
              <a:t>NPFL competitiveness improved across the six-season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607" y="1273909"/>
            <a:ext cx="1069848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02529"/>
                </a:solidFill>
              </a:defRPr>
            </a:pPr>
            <a:r>
              <a:rPr sz="2800" dirty="0"/>
              <a:t>• PPG spread narrowed from 1.21 in 2020/21 to 0.74 in 2025/26 — about a 39% reduction.</a:t>
            </a:r>
          </a:p>
          <a:p>
            <a:pPr>
              <a:spcAft>
                <a:spcPts val="1200"/>
              </a:spcAft>
              <a:defRPr sz="1900">
                <a:solidFill>
                  <a:srgbClr val="202529"/>
                </a:solidFill>
              </a:defRPr>
            </a:pPr>
            <a:r>
              <a:rPr sz="2800" dirty="0"/>
              <a:t>• PPG standard deviation fell from 0.307 to 0.186 — also about a 39% reduction.</a:t>
            </a:r>
          </a:p>
          <a:p>
            <a:pPr>
              <a:spcAft>
                <a:spcPts val="1200"/>
              </a:spcAft>
              <a:defRPr sz="1900">
                <a:solidFill>
                  <a:srgbClr val="202529"/>
                </a:solidFill>
              </a:defRPr>
            </a:pPr>
            <a:r>
              <a:rPr sz="2800" dirty="0"/>
              <a:t>• 2022/23 is an outlier because the season was abridged.</a:t>
            </a:r>
          </a:p>
          <a:p>
            <a:pPr>
              <a:spcAft>
                <a:spcPts val="1200"/>
              </a:spcAft>
              <a:defRPr sz="1900">
                <a:solidFill>
                  <a:srgbClr val="202529"/>
                </a:solidFill>
              </a:defRPr>
            </a:pPr>
            <a:r>
              <a:rPr sz="2800" dirty="0"/>
              <a:t>• By 2025/26, the gap between the strongest and weakest teams was materially smaller than at the start of the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0829"/>
            <a:ext cx="668163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dirty="0"/>
              <a:t>SUSTAINED CLUB SUCCESS IS CONCENTRATED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28346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006B3F"/>
                </a:solidFill>
              </a:defRPr>
            </a:pPr>
            <a:r>
              <a:rPr sz="4000" dirty="0"/>
              <a:t>367</a:t>
            </a:r>
          </a:p>
          <a:p>
            <a:pPr algn="ctr">
              <a:defRPr sz="1100">
                <a:solidFill>
                  <a:srgbClr val="697076"/>
                </a:solidFill>
              </a:defRPr>
            </a:pPr>
            <a:r>
              <a:rPr sz="1600" dirty="0"/>
              <a:t>Rivers United cumulative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417320"/>
            <a:ext cx="28346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1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ED1B24"/>
                </a:solidFill>
              </a:defRPr>
            </a:pPr>
            <a:r>
              <a:rPr sz="4000" dirty="0"/>
              <a:t>330</a:t>
            </a:r>
          </a:p>
          <a:p>
            <a:pPr algn="ctr">
              <a:defRPr sz="1100">
                <a:solidFill>
                  <a:srgbClr val="697076"/>
                </a:solidFill>
              </a:defRPr>
            </a:pPr>
            <a:r>
              <a:rPr sz="1600" dirty="0"/>
              <a:t>Enyimba cumulative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417320"/>
            <a:ext cx="28346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DAA520"/>
                </a:solidFill>
              </a:defRPr>
            </a:pPr>
            <a:r>
              <a:rPr sz="4000" dirty="0"/>
              <a:t>322</a:t>
            </a:r>
          </a:p>
          <a:p>
            <a:pPr algn="ctr">
              <a:defRPr sz="1100">
                <a:solidFill>
                  <a:srgbClr val="697076"/>
                </a:solidFill>
              </a:defRPr>
            </a:pPr>
            <a:r>
              <a:rPr sz="1600" dirty="0"/>
              <a:t>Enugu Rangers cumulative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1069848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Rivers United is the strongest sustained performer in the project aggregation: six seasons, 104 wins and +85 goal difference.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Enyimba and Enugu Rangers also show sustained high-level performance.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Successful clubs combine repeat participation with consistent results rather than relying on one exceptional season.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6455" y="248080"/>
            <a:ext cx="1112926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sz="3600" dirty="0"/>
              <a:t>HOME ADVANTAGE IS A DEFINING NPFL CHARACTERISTIC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2785" y="1417320"/>
            <a:ext cx="28346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006B3F"/>
                </a:solidFill>
              </a:defRPr>
            </a:pPr>
            <a:r>
              <a:rPr sz="4000" dirty="0"/>
              <a:t>63.68%</a:t>
            </a:r>
            <a:endParaRPr dirty="0"/>
          </a:p>
          <a:p>
            <a:pPr algn="ctr">
              <a:defRPr sz="1100">
                <a:solidFill>
                  <a:srgbClr val="697076"/>
                </a:solidFill>
              </a:defRPr>
            </a:pPr>
            <a:r>
              <a:rPr sz="1600" dirty="0"/>
              <a:t>Home-win share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160520" y="1417320"/>
            <a:ext cx="28346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1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ED1B24"/>
                </a:solidFill>
              </a:defRPr>
            </a:pPr>
            <a:r>
              <a:rPr sz="4000" dirty="0"/>
              <a:t>2.18</a:t>
            </a:r>
          </a:p>
          <a:p>
            <a:pPr algn="ctr">
              <a:defRPr sz="1100">
                <a:solidFill>
                  <a:srgbClr val="697076"/>
                </a:solidFill>
              </a:defRPr>
            </a:pPr>
            <a:r>
              <a:rPr sz="1600" dirty="0"/>
              <a:t>Average home PPG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406640" y="1417320"/>
            <a:ext cx="28346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DAA520"/>
                </a:solidFill>
              </a:defRPr>
            </a:pPr>
            <a:r>
              <a:rPr sz="4000" dirty="0"/>
              <a:t>3.91×</a:t>
            </a:r>
          </a:p>
          <a:p>
            <a:pPr algn="ctr">
              <a:defRPr sz="1100">
                <a:solidFill>
                  <a:srgbClr val="697076"/>
                </a:solidFill>
              </a:defRPr>
            </a:pPr>
            <a:r>
              <a:rPr sz="1600" dirty="0"/>
              <a:t>Home-to-away PPG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106984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dirty="0"/>
              <a:t>• </a:t>
            </a:r>
            <a:r>
              <a:rPr sz="2800" dirty="0"/>
              <a:t>Home teams produced a strong points advantage across the sample.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Examples of strong home environments include Rivers United, Remo Stars, Plateau United, Ikorodu City and Kano Pillars.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Travel, familiarity, crowd effects and venue conditions may all contribute; the analysis does not establish a single causal mechanism.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73258" y="157564"/>
            <a:ext cx="697453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dirty="0"/>
              <a:t>STADIUMS ARE PART OF THE LEAGUE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</a:t>
            </a:r>
            <a:r>
              <a:rPr sz="2800" dirty="0" err="1"/>
              <a:t>Uniben</a:t>
            </a:r>
            <a:r>
              <a:rPr sz="2800" dirty="0"/>
              <a:t> Sport Complex recorded the highest average goals per match among the leading venues in the project data: 2.84.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Dipo Dina: 2.57; Aper Aku, Samson Siasia and </a:t>
            </a:r>
            <a:r>
              <a:rPr sz="2800" dirty="0" err="1"/>
              <a:t>Uyo</a:t>
            </a:r>
            <a:r>
              <a:rPr sz="2800" dirty="0"/>
              <a:t> Township: 2.50.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Stadium-associated home advantage was highest at </a:t>
            </a:r>
            <a:r>
              <a:rPr sz="2800" dirty="0" err="1"/>
              <a:t>Eket</a:t>
            </a:r>
            <a:r>
              <a:rPr sz="2800" dirty="0"/>
              <a:t> Sports Stadium in the project analysis.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These are venue associations, not causal stadium effects: club strength, opponent mix and travel conditions are confounders.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Missing stadium </a:t>
            </a:r>
            <a:r>
              <a:rPr lang="en-US" sz="2800" dirty="0"/>
              <a:t>data</a:t>
            </a:r>
            <a:r>
              <a:rPr sz="2800" dirty="0"/>
              <a:t> in the raw match data limit venue-level completeness.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94974"/>
            <a:ext cx="123668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sz="3200" dirty="0"/>
              <a:t>PLAYER PERFORMANCE: GOALS REMAIN CONCENTRATED IN FORWARDS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17320"/>
            <a:ext cx="28346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006B3F"/>
                </a:solidFill>
              </a:defRPr>
            </a:pPr>
            <a:r>
              <a:rPr sz="4000" dirty="0"/>
              <a:t>15</a:t>
            </a:r>
          </a:p>
          <a:p>
            <a:pPr algn="ctr">
              <a:defRPr sz="1100">
                <a:solidFill>
                  <a:srgbClr val="697076"/>
                </a:solidFill>
              </a:defRPr>
            </a:pPr>
            <a:r>
              <a:rPr sz="1600" dirty="0" err="1"/>
              <a:t>Mbaoma</a:t>
            </a:r>
            <a:r>
              <a:rPr sz="1600" dirty="0"/>
              <a:t> goals — 2025/26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417320"/>
            <a:ext cx="28346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1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ED1B24"/>
                </a:solidFill>
              </a:defRPr>
            </a:pPr>
            <a:r>
              <a:rPr sz="4000" dirty="0"/>
              <a:t>13</a:t>
            </a:r>
          </a:p>
          <a:p>
            <a:pPr algn="ctr">
              <a:defRPr sz="1100">
                <a:solidFill>
                  <a:srgbClr val="697076"/>
                </a:solidFill>
              </a:defRPr>
            </a:pPr>
            <a:r>
              <a:rPr sz="1600" dirty="0" err="1"/>
              <a:t>Obaje</a:t>
            </a:r>
            <a:r>
              <a:rPr sz="1600" dirty="0"/>
              <a:t> goals — 2025/26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417320"/>
            <a:ext cx="28346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DAA520"/>
                </a:solidFill>
              </a:defRPr>
            </a:pPr>
            <a:r>
              <a:rPr sz="4000" dirty="0"/>
              <a:t>63.72%</a:t>
            </a:r>
          </a:p>
          <a:p>
            <a:pPr algn="ctr">
              <a:defRPr sz="1100">
                <a:solidFill>
                  <a:srgbClr val="697076"/>
                </a:solidFill>
              </a:defRPr>
            </a:pPr>
            <a:r>
              <a:rPr sz="1600" dirty="0"/>
              <a:t>Forward</a:t>
            </a:r>
            <a:r>
              <a:rPr lang="en-US" sz="1600" dirty="0"/>
              <a:t>s</a:t>
            </a:r>
            <a:r>
              <a:rPr sz="1600" dirty="0"/>
              <a:t> goal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1069848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2025/26 scoring was led by Victor Chukwuma </a:t>
            </a:r>
            <a:r>
              <a:rPr sz="2800" dirty="0" err="1"/>
              <a:t>Mbaoma</a:t>
            </a:r>
            <a:r>
              <a:rPr sz="2800" dirty="0"/>
              <a:t> (15) and Godwin </a:t>
            </a:r>
            <a:r>
              <a:rPr sz="2800" dirty="0" err="1"/>
              <a:t>Obaje</a:t>
            </a:r>
            <a:r>
              <a:rPr sz="2800" dirty="0"/>
              <a:t> (13).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Forwards contributed 63.72% of recorded goals, compared with 21.48% for midfielders and 14.80% for defenders.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Goal efficiency analysis should be interpreted alongside minutes played rather than raw totals alone.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9238" y="120256"/>
            <a:ext cx="935448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sz="4000" dirty="0"/>
              <a:t>WHAT THE PLAYER AND XG ANALYSIS ADDS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02529"/>
                </a:solidFill>
              </a:defRPr>
            </a:pPr>
            <a:r>
              <a:rPr sz="2800" dirty="0"/>
              <a:t>• </a:t>
            </a:r>
            <a:r>
              <a:rPr sz="2800" dirty="0" err="1"/>
              <a:t>xG</a:t>
            </a:r>
            <a:r>
              <a:rPr sz="2800" dirty="0"/>
              <a:t> efficiency highlights the difference between actual goals and modelled expected goals.</a:t>
            </a:r>
          </a:p>
          <a:p>
            <a:pPr>
              <a:spcAft>
                <a:spcPts val="1200"/>
              </a:spcAft>
              <a:defRPr sz="1900">
                <a:solidFill>
                  <a:srgbClr val="202529"/>
                </a:solidFill>
              </a:defRPr>
            </a:pPr>
            <a:r>
              <a:rPr sz="2800" dirty="0"/>
              <a:t>• El-Kanemi Warriors, Kano Pillars and Katsina United were among the highest ratios in the project analysis.</a:t>
            </a:r>
          </a:p>
          <a:p>
            <a:pPr>
              <a:spcAft>
                <a:spcPts val="1200"/>
              </a:spcAft>
              <a:defRPr sz="1900">
                <a:solidFill>
                  <a:srgbClr val="202529"/>
                </a:solidFill>
              </a:defRPr>
            </a:pPr>
            <a:r>
              <a:rPr sz="2800" dirty="0"/>
              <a:t>• The result is useful as a screening signal, but the underlying </a:t>
            </a:r>
            <a:r>
              <a:rPr sz="2800" dirty="0" err="1"/>
              <a:t>xG</a:t>
            </a:r>
            <a:r>
              <a:rPr sz="2800" dirty="0"/>
              <a:t> model should be calibrated and validated before calling it definitive finishing skill.</a:t>
            </a:r>
          </a:p>
          <a:p>
            <a:pPr>
              <a:spcAft>
                <a:spcPts val="1200"/>
              </a:spcAft>
              <a:defRPr sz="1900">
                <a:solidFill>
                  <a:srgbClr val="202529"/>
                </a:solidFill>
              </a:defRPr>
            </a:pPr>
            <a:r>
              <a:rPr sz="2800" dirty="0"/>
              <a:t>• </a:t>
            </a:r>
            <a:r>
              <a:rPr lang="en-US" sz="2800" dirty="0"/>
              <a:t>Incomplete advanced metrics </a:t>
            </a:r>
            <a:r>
              <a:rPr sz="2800" dirty="0"/>
              <a:t>and</a:t>
            </a:r>
            <a:r>
              <a:rPr lang="en-US" sz="2800" dirty="0"/>
              <a:t> insufficient player data</a:t>
            </a:r>
            <a:r>
              <a:rPr sz="2800" dirty="0"/>
              <a:t> are additional reasons to use the results as analytical evidence rather than absolute rankings.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66652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sz="4000" dirty="0"/>
              <a:t>CLUB STRENGTH IS NOT SIMPLY A POPULATION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30846"/>
            <a:ext cx="1069848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Rivers State combines a relatively large population with the strongest average club PPG in the project aggregation.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Ogun and Enugu also show strong performance, despite very different population ranks.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Abia performs strongly despite a much smaller population base.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Kano has a very large population but a more moderate average PPG.</a:t>
            </a:r>
          </a:p>
          <a:p>
            <a:pPr>
              <a:spcAft>
                <a:spcPts val="1200"/>
              </a:spcAft>
              <a:defRPr sz="1800">
                <a:solidFill>
                  <a:srgbClr val="202529"/>
                </a:solidFill>
              </a:defRPr>
            </a:pPr>
            <a:r>
              <a:rPr sz="2800" dirty="0"/>
              <a:t>• The pattern reinforces the statistical result: population may provide opportunity, but conversion into elite club performance depends on the wider football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75206" y="1417320"/>
            <a:ext cx="1024128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2529"/>
                </a:solidFill>
              </a:defRPr>
            </a:pPr>
            <a:r>
              <a:rPr sz="2800" b="1" dirty="0"/>
              <a:t>• Population is not the limiting variable.</a:t>
            </a:r>
          </a:p>
          <a:p>
            <a:pPr>
              <a:spcAft>
                <a:spcPts val="1200"/>
              </a:spcAft>
              <a:defRPr sz="2200">
                <a:solidFill>
                  <a:srgbClr val="202529"/>
                </a:solidFill>
              </a:defRPr>
            </a:pPr>
            <a:r>
              <a:rPr sz="2800" b="1" dirty="0"/>
              <a:t>• Competitiveness appears to be improving</a:t>
            </a:r>
            <a:r>
              <a:rPr lang="en-US" sz="2800" b="1" dirty="0"/>
              <a:t> every season</a:t>
            </a:r>
            <a:r>
              <a:rPr sz="2800" b="1" dirty="0"/>
              <a:t>.</a:t>
            </a:r>
          </a:p>
          <a:p>
            <a:pPr>
              <a:spcAft>
                <a:spcPts val="1200"/>
              </a:spcAft>
              <a:defRPr sz="2200">
                <a:solidFill>
                  <a:srgbClr val="202529"/>
                </a:solidFill>
              </a:defRPr>
            </a:pPr>
            <a:r>
              <a:rPr sz="2800" b="1" dirty="0"/>
              <a:t>• Home environments are powerful competitive assets.</a:t>
            </a:r>
          </a:p>
          <a:p>
            <a:pPr>
              <a:spcAft>
                <a:spcPts val="1200"/>
              </a:spcAft>
              <a:defRPr sz="2200">
                <a:solidFill>
                  <a:srgbClr val="202529"/>
                </a:solidFill>
              </a:defRPr>
            </a:pPr>
            <a:r>
              <a:rPr sz="2800" b="1" dirty="0"/>
              <a:t>• Club success is sustained by repeat performance, not isolated peaks.</a:t>
            </a:r>
          </a:p>
          <a:p>
            <a:pPr>
              <a:spcAft>
                <a:spcPts val="1200"/>
              </a:spcAft>
              <a:defRPr sz="2200">
                <a:solidFill>
                  <a:srgbClr val="202529"/>
                </a:solidFill>
              </a:defRPr>
            </a:pPr>
            <a:r>
              <a:rPr sz="2800" b="1" dirty="0"/>
              <a:t>• Stadiums, data and media should be treated as league infrastructure — not separate side projects.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FFDE6-7E08-8937-CEBB-E5D921C4E73D}"/>
              </a:ext>
            </a:extLst>
          </p:cNvPr>
          <p:cNvSpPr txBox="1"/>
          <p:nvPr/>
        </p:nvSpPr>
        <p:spPr>
          <a:xfrm>
            <a:off x="4800447" y="312666"/>
            <a:ext cx="2590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2529"/>
                </a:solidFill>
              </a:defRPr>
            </a:pPr>
            <a:r>
              <a:rPr lang="en-US" dirty="0">
                <a:solidFill>
                  <a:srgbClr val="FFFF00"/>
                </a:solidFill>
              </a:rPr>
              <a:t>THE KEY LESSONS</a:t>
            </a:r>
            <a:endParaRPr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73061" y="200829"/>
            <a:ext cx="609346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dirty="0"/>
              <a:t>NPFL VS THE WORLD’S BIGGEST LEAGUES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607" y="917734"/>
            <a:ext cx="1069848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European football’s biggest leagues operate inside far larger commercial, broadcast and matchday ecosystems.</a:t>
            </a:r>
          </a:p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Deloitte reported €40.2bn in total European football revenue in 2024/25, with the 'big five' accounting for €21.6bn.</a:t>
            </a:r>
          </a:p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The Premier League alone generated £6.8bn in 2024/25, including £3.4bn broadcast, £2.4bn commercial and more than £1bn matchday revenue.</a:t>
            </a:r>
          </a:p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The NPFL’s competitive value is real, but its monetization, media reach, infrastructure and data maturity remain much smaller.</a:t>
            </a:r>
          </a:p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The relevant benchmark is therefore ecosystem capability: product quality → audience → data → media → sponsorship → club value.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53337" y="252234"/>
            <a:ext cx="678859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sz="4000" dirty="0"/>
              <a:t>NPFL STRENGTHS TO BUILD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607" y="1212354"/>
            <a:ext cx="1069848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Deep national football culture and a large talent base.</a:t>
            </a:r>
          </a:p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Proven continental pedigree — Nigerian clubs have won at Africa’s highest club level.</a:t>
            </a:r>
          </a:p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20-club structure provides national geographic reach.</a:t>
            </a:r>
          </a:p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Competitive balance improved over the six-season sample.</a:t>
            </a:r>
          </a:p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Strong home environments create a distinctive matchday product.</a:t>
            </a:r>
          </a:p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Broadcast and technology initiatives are improving: StarTimes, Propel and later </a:t>
            </a:r>
            <a:r>
              <a:rPr sz="2800" dirty="0" err="1"/>
              <a:t>Inview</a:t>
            </a:r>
            <a:r>
              <a:rPr sz="2800" dirty="0"/>
              <a:t> partnerships show an ongoing push toward better coverage.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4298" y="134034"/>
            <a:ext cx="1178309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sz="3600" dirty="0"/>
              <a:t>WHERE THE NPFL STILL LAGS THE LEADING GLOBAL LEAGUES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7496" y="825579"/>
            <a:ext cx="10698480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Broadcast: inconsistent historical coverage and a smaller global distribution footprint.</a:t>
            </a:r>
          </a:p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Stadium infrastructure: uneven venue quality, capacity, lighting, media facilities and fan experience.</a:t>
            </a:r>
          </a:p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Commercialization: sponsorship and matchday products are less developed and less systematically packaged.</a:t>
            </a:r>
          </a:p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Data maturity: fragmented player/team/match data limits scouting, storytelling, analytics and commercial insight.</a:t>
            </a:r>
          </a:p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Club sustainability: performance can be difficult to convert into durable financial and brand strength.</a:t>
            </a:r>
          </a:p>
          <a:p>
            <a:pPr>
              <a:spcAft>
                <a:spcPts val="1200"/>
              </a:spcAft>
              <a:defRPr sz="1700">
                <a:solidFill>
                  <a:srgbClr val="202529"/>
                </a:solidFill>
              </a:defRPr>
            </a:pPr>
            <a:r>
              <a:rPr sz="2800" dirty="0"/>
              <a:t>• Digital product: the league needs a consistent, always-on media and statistics experience rather than match coverage alone.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9036" y="57537"/>
            <a:ext cx="913339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sz="4000" dirty="0"/>
              <a:t>RECOMMENDATIONS FOR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6308"/>
            <a:ext cx="1069848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02529"/>
                </a:solidFill>
              </a:defRPr>
            </a:pPr>
            <a:r>
              <a:rPr sz="2400" dirty="0"/>
              <a:t>• 1. Build a unified NPFL data platform: standard IDs, match events, player statistics, club histories, stadium metadata and public APIs.</a:t>
            </a:r>
          </a:p>
          <a:p>
            <a:pPr>
              <a:spcAft>
                <a:spcPts val="1200"/>
              </a:spcAft>
              <a:defRPr sz="1500">
                <a:solidFill>
                  <a:srgbClr val="202529"/>
                </a:solidFill>
              </a:defRPr>
            </a:pPr>
            <a:r>
              <a:rPr sz="2400" dirty="0"/>
              <a:t>• 2. Treat stadiums as media infrastructure: lighting, camera positions, connectivity, commentary positions, replay and consistent broadcast standards.</a:t>
            </a:r>
          </a:p>
          <a:p>
            <a:pPr>
              <a:spcAft>
                <a:spcPts val="1200"/>
              </a:spcAft>
              <a:defRPr sz="1500">
                <a:solidFill>
                  <a:srgbClr val="202529"/>
                </a:solidFill>
              </a:defRPr>
            </a:pPr>
            <a:r>
              <a:rPr sz="2400" dirty="0"/>
              <a:t>• 3. Create a permanent NPFL digital product: fixtures, live scores, verified statistics, player profiles, stories and historical records.</a:t>
            </a:r>
          </a:p>
          <a:p>
            <a:pPr>
              <a:spcAft>
                <a:spcPts val="1200"/>
              </a:spcAft>
              <a:defRPr sz="1500">
                <a:solidFill>
                  <a:srgbClr val="202529"/>
                </a:solidFill>
              </a:defRPr>
            </a:pPr>
            <a:r>
              <a:rPr sz="2400" dirty="0"/>
              <a:t>• 4. Develop the talent value chain: scouting, analytics, player development, transfer intelligence and stronger club commercial teams.</a:t>
            </a:r>
          </a:p>
          <a:p>
            <a:pPr>
              <a:spcAft>
                <a:spcPts val="1200"/>
              </a:spcAft>
              <a:defRPr sz="1500">
                <a:solidFill>
                  <a:srgbClr val="202529"/>
                </a:solidFill>
              </a:defRPr>
            </a:pPr>
            <a:r>
              <a:rPr sz="2400" dirty="0"/>
              <a:t>• 5. Package the league for sponsors: consistent audience metrics, digital inventory, matchday assets and club-level activation opportunities.</a:t>
            </a:r>
          </a:p>
          <a:p>
            <a:pPr>
              <a:spcAft>
                <a:spcPts val="1200"/>
              </a:spcAft>
              <a:defRPr sz="1500">
                <a:solidFill>
                  <a:srgbClr val="202529"/>
                </a:solidFill>
              </a:defRPr>
            </a:pPr>
            <a:r>
              <a:rPr sz="2400" dirty="0"/>
              <a:t>• 6. Use analytics as a product: publish credible league trends and club/player insights to increase transparency and fan engagement.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32629" y="0"/>
            <a:ext cx="662566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sz="4000" dirty="0"/>
              <a:t>THE STRATEGIC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97565"/>
            <a:ext cx="1069848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529"/>
                </a:solidFill>
              </a:defRPr>
            </a:pPr>
            <a:r>
              <a:rPr sz="2800" dirty="0"/>
              <a:t>• The analysis does not point to a shortage of population or football interest.</a:t>
            </a:r>
          </a:p>
          <a:p>
            <a:pPr>
              <a:spcAft>
                <a:spcPts val="1200"/>
              </a:spcAft>
              <a:defRPr sz="2000">
                <a:solidFill>
                  <a:srgbClr val="202529"/>
                </a:solidFill>
              </a:defRPr>
            </a:pPr>
            <a:r>
              <a:rPr sz="2800" dirty="0"/>
              <a:t>• It points toward a conversion problem: turning talent, geography, clubs, stadiums and audience into a coherent professional sports ecosystem.</a:t>
            </a:r>
          </a:p>
          <a:p>
            <a:pPr>
              <a:spcAft>
                <a:spcPts val="1200"/>
              </a:spcAft>
              <a:defRPr sz="2000">
                <a:solidFill>
                  <a:srgbClr val="202529"/>
                </a:solidFill>
              </a:defRPr>
            </a:pPr>
            <a:r>
              <a:rPr sz="2800" dirty="0"/>
              <a:t>• Competitiveness is moving in a positive direction — that gives the league a sporting foundation to build on.</a:t>
            </a:r>
          </a:p>
          <a:p>
            <a:pPr>
              <a:spcAft>
                <a:spcPts val="1200"/>
              </a:spcAft>
              <a:defRPr sz="2000">
                <a:solidFill>
                  <a:srgbClr val="202529"/>
                </a:solidFill>
              </a:defRPr>
            </a:pPr>
            <a:r>
              <a:rPr sz="2800" dirty="0"/>
              <a:t>• If data, media, infrastructure and commercial systems improve together, the NPFL can become more valuable without needing to copy every feature of European leagues.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9936" y="1141601"/>
            <a:ext cx="8194005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A520"/>
                </a:solidFill>
              </a:defRPr>
            </a:pPr>
            <a:endParaRPr dirty="0"/>
          </a:p>
          <a:p>
            <a:pPr marL="457200" indent="-457200">
              <a:buFont typeface="Arial" panose="020B0604020202020204" pitchFamily="34" charset="0"/>
              <a:buChar char="•"/>
              <a:defRPr sz="3100" b="1">
                <a:solidFill>
                  <a:srgbClr val="FFFFFF"/>
                </a:solidFill>
              </a:defRPr>
            </a:pPr>
            <a:r>
              <a:rPr sz="2800" dirty="0"/>
              <a:t>Nigeria has the football talent and culture.</a:t>
            </a:r>
          </a:p>
          <a:p>
            <a:pPr marL="457200" indent="-457200">
              <a:buFont typeface="Arial" panose="020B0604020202020204" pitchFamily="34" charset="0"/>
              <a:buChar char="•"/>
              <a:defRPr sz="2500">
                <a:solidFill>
                  <a:srgbClr val="FFFFFF"/>
                </a:solidFill>
              </a:defRPr>
            </a:pPr>
            <a:r>
              <a:rPr sz="2800" b="1" dirty="0"/>
              <a:t>The data suggests population is not the limiting factor.</a:t>
            </a: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  <a:defRPr sz="2500">
                <a:solidFill>
                  <a:srgbClr val="FFFFFF"/>
                </a:solidFill>
              </a:defRPr>
            </a:pPr>
            <a:r>
              <a:rPr lang="en-US" sz="2800" b="1" dirty="0"/>
              <a:t>The bigger opportunity is building the sporting, infrastructure, data, broadcast and commercial systems that convert that potential into sustained domestic value.</a:t>
            </a:r>
          </a:p>
          <a:p>
            <a:pPr>
              <a:defRPr sz="25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40FD4-78DB-04C1-0BD7-8E0D057E5A4C}"/>
              </a:ext>
            </a:extLst>
          </p:cNvPr>
          <p:cNvSpPr txBox="1"/>
          <p:nvPr/>
        </p:nvSpPr>
        <p:spPr>
          <a:xfrm>
            <a:off x="3085712" y="0"/>
            <a:ext cx="436183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AA520"/>
                </a:solidFill>
              </a:defRPr>
            </a:pPr>
            <a:r>
              <a:rPr lang="en-US" sz="4000" dirty="0"/>
              <a:t>FINAL CONCLUSION</a:t>
            </a:r>
            <a:endParaRPr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86988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6B3F"/>
                </a:solidFill>
              </a:defRPr>
            </a:pPr>
            <a:r>
              <a:rPr lang="en-US" sz="4000" dirty="0"/>
              <a:t>SELECTED SOURCES &amp; METHODOLOGY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02529"/>
                </a:solidFill>
              </a:defRPr>
            </a:pPr>
            <a:r>
              <a:rPr dirty="0"/>
              <a:t>• NPFL official — About the League; official club and competition pages.</a:t>
            </a:r>
          </a:p>
          <a:p>
            <a:pPr>
              <a:spcAft>
                <a:spcPts val="1200"/>
              </a:spcAft>
              <a:defRPr sz="1500">
                <a:solidFill>
                  <a:srgbClr val="202529"/>
                </a:solidFill>
              </a:defRPr>
            </a:pPr>
            <a:r>
              <a:rPr dirty="0"/>
              <a:t>• RSSSF — Nigeria champions / league history.</a:t>
            </a:r>
          </a:p>
          <a:p>
            <a:pPr>
              <a:spcAft>
                <a:spcPts val="1200"/>
              </a:spcAft>
              <a:defRPr sz="1500">
                <a:solidFill>
                  <a:srgbClr val="202529"/>
                </a:solidFill>
              </a:defRPr>
            </a:pPr>
            <a:r>
              <a:rPr dirty="0"/>
              <a:t>• Deloitte — Annual Review of Football Finance 2025/26 and 2024/25 revenue benchmarks.</a:t>
            </a:r>
          </a:p>
          <a:p>
            <a:pPr>
              <a:spcAft>
                <a:spcPts val="1200"/>
              </a:spcAft>
              <a:defRPr sz="1500">
                <a:solidFill>
                  <a:srgbClr val="202529"/>
                </a:solidFill>
              </a:defRPr>
            </a:pPr>
            <a:r>
              <a:rPr dirty="0"/>
              <a:t>• Project source data</a:t>
            </a:r>
            <a:endParaRPr lang="en-US" dirty="0"/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202529"/>
                </a:solidFill>
              </a:defRPr>
            </a:pPr>
            <a:r>
              <a:rPr lang="en-US" dirty="0"/>
              <a:t>https://nationalpopulation.gov.ng/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202529"/>
                </a:solidFill>
              </a:defRPr>
            </a:pPr>
            <a:r>
              <a:rPr lang="en-US" dirty="0"/>
              <a:t>https://www.nigerianstat.gov.ng/elibrary/read/1241422https://microdata.nigerianstat.gov.ng/index.php/catalog/152/variable/F1/V11?name=popw&amp;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202529"/>
                </a:solidFill>
              </a:defRPr>
            </a:pPr>
            <a:r>
              <a:rPr lang="en-US" dirty="0"/>
              <a:t>https://npfl.com.ng/clubs/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202529"/>
                </a:solidFill>
              </a:defRPr>
            </a:pPr>
            <a:r>
              <a:rPr lang="en-US" dirty="0"/>
              <a:t>https://www.transfermarkt.com/nigeria-professional-football-league/stadien/wettbewerb/NPFL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  <a:defRPr sz="1500">
                <a:solidFill>
                  <a:srgbClr val="202529"/>
                </a:solidFill>
              </a:defRPr>
            </a:pPr>
            <a:r>
              <a:rPr lang="en-US" dirty="0"/>
              <a:t>https://www.footystats.com</a:t>
            </a:r>
            <a:r>
              <a:rPr dirty="0"/>
              <a:t> </a:t>
            </a:r>
            <a:endParaRPr lang="en-US" dirty="0"/>
          </a:p>
          <a:p>
            <a:pPr>
              <a:spcAft>
                <a:spcPts val="1200"/>
              </a:spcAft>
              <a:defRPr sz="1500">
                <a:solidFill>
                  <a:srgbClr val="202529"/>
                </a:solidFill>
              </a:defRPr>
            </a:pPr>
            <a:r>
              <a:rPr dirty="0"/>
              <a:t>• Competitiveness methodology: </a:t>
            </a:r>
            <a:r>
              <a:rPr lang="en-US" dirty="0"/>
              <a:t>T</a:t>
            </a:r>
            <a:r>
              <a:rPr dirty="0"/>
              <a:t>otal points and PPG gap, sample standard deviation and coefficient of variation.</a:t>
            </a:r>
          </a:p>
          <a:p>
            <a:pPr>
              <a:spcAft>
                <a:spcPts val="1200"/>
              </a:spcAft>
              <a:defRPr sz="1500">
                <a:solidFill>
                  <a:srgbClr val="202529"/>
                </a:solidFill>
              </a:defRPr>
            </a:pPr>
            <a:r>
              <a:rPr dirty="0"/>
              <a:t>• Important caveats: 2022/23 abridged; player duplicates; missing stadium keys; venue-vs-club geography mapping; </a:t>
            </a:r>
            <a:r>
              <a:rPr dirty="0" err="1"/>
              <a:t>xG</a:t>
            </a:r>
            <a:r>
              <a:rPr dirty="0"/>
              <a:t> calibration; Random Forest class imbalance.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D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6"/>
                </a:solidFill>
              </a:defRPr>
            </a:pPr>
            <a:r>
              <a:t>Prepared as a portfolio presentation from the NPFL analytics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1811</Words>
  <Application>Microsoft Office PowerPoint</Application>
  <PresentationFormat>Widescreen</PresentationFormat>
  <Paragraphs>147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RAiD3N</cp:lastModifiedBy>
  <cp:revision>7</cp:revision>
  <dcterms:created xsi:type="dcterms:W3CDTF">2013-01-27T09:14:16Z</dcterms:created>
  <dcterms:modified xsi:type="dcterms:W3CDTF">2026-09-05T04:22:18Z</dcterms:modified>
  <cp:category/>
</cp:coreProperties>
</file>